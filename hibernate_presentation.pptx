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5" r:id="rId4"/>
    <p:sldId id="274" r:id="rId5"/>
    <p:sldId id="285" r:id="rId6"/>
    <p:sldId id="275" r:id="rId7"/>
    <p:sldId id="276" r:id="rId8"/>
    <p:sldId id="267" r:id="rId9"/>
    <p:sldId id="270" r:id="rId10"/>
    <p:sldId id="277" r:id="rId11"/>
    <p:sldId id="278" r:id="rId12"/>
    <p:sldId id="279" r:id="rId13"/>
    <p:sldId id="280" r:id="rId14"/>
    <p:sldId id="271" r:id="rId15"/>
    <p:sldId id="284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A37305-DC02-4FAE-B385-9804019F12D0}" v="2160" dt="2025-12-11T18:03:15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2"/>
    <p:restoredTop sz="94694"/>
  </p:normalViewPr>
  <p:slideViewPr>
    <p:cSldViewPr snapToGrid="0">
      <p:cViewPr>
        <p:scale>
          <a:sx n="117" d="100"/>
          <a:sy n="117" d="100"/>
        </p:scale>
        <p:origin x="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5B91-DA2E-DE84-4E98-567F33614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D0561-41DA-8D7E-1681-FB314EBC0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B566D-CD5E-31DB-B113-B5F7B354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616C9-9C26-2C74-4DF8-CCA33FAF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AC86B-D416-C83C-E484-38EF2D5CF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3095-E445-2E04-AAE1-FBFEFF27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794AA-2200-6E7A-B994-C4F66935F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2534-ADAE-5291-2F16-9F66D01D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F5072-2160-2C7A-7D29-0C21C0EA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8DAE-89AC-F741-D1FA-07AA4C14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8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E009-DB73-D643-2851-03803556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16C1D-9CED-7EBA-E6AA-A6035F1C6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DD25C-6F43-90B5-F487-FE5A191A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55A1D-386E-CC91-A26B-F149CAA9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E9AAE-0EA6-78FD-D469-7E9F0F77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D685-EDED-5570-63C3-058C6C56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C748-B3B2-CC06-B033-1BC4F0214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EB0D-3ED8-E961-D0C6-D44CFA647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33F2C-5443-84CF-A991-B79F45B4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6805F-0741-FC0C-1D71-EF93D4DF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C87BD-2AD5-6ECB-7126-51372C7C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1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4F8A-C76C-08C5-290F-D75DF35C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82AF9-2877-FCF9-6CFE-649763E71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F048B-B3FE-923A-1450-71617EF1D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54366-2834-5603-8D5D-A5F4B7EA2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2CA85-A3A0-784A-AD83-F40AAB5F0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C03D5-2920-B4F3-7C89-0DE5612A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7AB97-F3D2-D03D-ED76-CB594E2D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F21C7-0C00-DDAD-2D4B-A6BF2AE4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5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9935-27D5-E709-65CA-4477EE5C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7D90C-BE7E-E368-4FD0-21562687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86C26-D52F-35C8-7F93-959638BA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7F489-A551-CE42-8727-FDEAB444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1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B1E58-F73B-58C3-F3D7-F485D2C4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EC056-A43F-CF7C-62C8-0BE73D2F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5CA7-BB95-A42F-3DC0-6C220378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3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446E-3587-6E96-0263-A3E8A98C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6CBD0-FDD8-20D2-12AD-7A921BB6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75C42-422B-CB6D-40A4-81C4DA8D7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9B8D6-09EE-E5D7-8629-142A1E98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3E87A-7E75-9ED4-FF25-D4628F7B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D30B3-4813-5EE5-6513-9A7F54D7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F9A2-27C8-A3F5-B18A-3455894B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CF2BE-FDEB-BD3D-E120-69EAC2662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FF62F-2DD3-68BD-E0E1-3E3E7CDA5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B8E40-AE11-2890-F76F-5A13B705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A05B2-5A51-097C-2D7D-E07AA033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C88B9-4C75-AACC-3F74-A2C5559A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A09E8-73E4-8C27-5DB1-D8C8B379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17B49-EE4D-B0E5-E4B7-5A09FE5B5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72B32-1A1A-F7AC-B554-720AC4FF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94992-C3FD-1CBC-4845-08C71502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590E-C1F8-95F9-339E-B82BE198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8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BB958-B00E-5FCA-F7EE-1599F7BE6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CC059-4C0F-DDE6-D521-2AAA1DF73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28FBF-4DCB-3A2D-92E8-A6619A9A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44285-AAFE-A548-5AD8-B1428F3B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F634-2CE3-2181-B101-97C60977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9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5DB8B-B699-84A7-DCB3-DFE7EDB9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E04F6-CE4F-BB58-3E33-4A7D00142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7B53-0C50-24CE-DECD-B9E6266E8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23386-5937-3E4F-B67B-ED58BBA19EF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75BD0-0D5A-C510-F5D8-1D15B48EE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218A9-B37A-663C-A477-54BBDAAFF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4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A1D310-D672-B090-993A-E53BF3D9F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424" y="4344687"/>
            <a:ext cx="5760846" cy="381482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Fábio Geiss Fucks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AC2DF-9EA7-2C07-6C05-3BB25855413E}"/>
              </a:ext>
            </a:extLst>
          </p:cNvPr>
          <p:cNvSpPr txBox="1"/>
          <p:nvPr/>
        </p:nvSpPr>
        <p:spPr>
          <a:xfrm>
            <a:off x="1522172" y="1543817"/>
            <a:ext cx="9010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Hibernate Anti-Patterns and Patterns</a:t>
            </a:r>
          </a:p>
        </p:txBody>
      </p:sp>
    </p:spTree>
    <p:extLst>
      <p:ext uri="{BB962C8B-B14F-4D97-AF65-F5344CB8AC3E}">
        <p14:creationId xmlns:p14="http://schemas.microsoft.com/office/powerpoint/2010/main" val="413463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B3BBC-7750-3A50-4F35-96E80718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AF4DA3-9162-8057-79D7-C90F01969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143631-7320-D3A1-7225-5F5D8509C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118FFA-44A1-9C9F-088B-7A893654D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E5307EF-8897-7F39-FD17-90568DB7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4EEB15-44F7-D53A-AD1F-471949359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EE0B98-C0F8-414A-9C32-7F2482CE6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7CFA2E-D9B7-B378-D559-247AFB1F9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275C0BE-55A7-09B5-6A83-CD60926E9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E99F97-E6C5-8A0B-4BF8-CE4CD15E8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A5210F5-5F34-AAA5-2D5F-730608E7C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B0B4550B-B12D-8957-4879-1C7E3B678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N +1 Anti-Pattern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7D9E3-54F8-1540-8846-F70210D0C949}"/>
              </a:ext>
            </a:extLst>
          </p:cNvPr>
          <p:cNvSpPr txBox="1"/>
          <p:nvPr/>
        </p:nvSpPr>
        <p:spPr>
          <a:xfrm>
            <a:off x="337457" y="3381968"/>
            <a:ext cx="1073871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You think it is doing ONE SELECT, but under the hood the hibernate does N + 1 hidden SELECTS.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89A2B-5CA6-284C-933E-2ABA250C1EA0}"/>
              </a:ext>
            </a:extLst>
          </p:cNvPr>
          <p:cNvSpPr txBox="1"/>
          <p:nvPr/>
        </p:nvSpPr>
        <p:spPr>
          <a:xfrm>
            <a:off x="337457" y="2368037"/>
            <a:ext cx="10738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- It is a performance problem when the hibernate executes 1 query for the main entity and N additional queries to load poorly managed relations.</a:t>
            </a:r>
          </a:p>
        </p:txBody>
      </p:sp>
    </p:spTree>
    <p:extLst>
      <p:ext uri="{BB962C8B-B14F-4D97-AF65-F5344CB8AC3E}">
        <p14:creationId xmlns:p14="http://schemas.microsoft.com/office/powerpoint/2010/main" val="40188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A57DC-86E1-1702-9FF9-1F9C4B2B0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BAB8BB-EECA-A415-F8E1-2BF8440A1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079F7-1E82-5011-6E3F-5BA0CB27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E4B33D-6910-FE47-4680-D91C872E7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4EB4C56-4667-949C-A4CB-0DB2ADA66E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56C4DF1-593D-B435-6880-4A642E56F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1DD6C2-2DF2-D12B-AEF2-61D8F5655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514B1F9-3BDD-B572-80AE-3FFBC9F22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807122-75EC-B604-7593-20BDA8516E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770AEF-5B2D-AE78-A488-E95C9E336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65EF233-41DA-D667-D759-ACFAD06B1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7954FD22-FD82-0AA0-85A1-160DA0A1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870" y="1506382"/>
            <a:ext cx="5014797" cy="3752308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D7164F02-310E-2A59-6A1A-E1AC2098E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11" y="1512964"/>
            <a:ext cx="5550364" cy="374533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6F142A1-FDDC-9B61-83EC-EE085648C3FC}"/>
              </a:ext>
            </a:extLst>
          </p:cNvPr>
          <p:cNvSpPr txBox="1"/>
          <p:nvPr/>
        </p:nvSpPr>
        <p:spPr>
          <a:xfrm>
            <a:off x="407036" y="5258989"/>
            <a:ext cx="554958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/>
              <a:t>Entity </a:t>
            </a:r>
            <a:r>
              <a:rPr lang="pt-BR" sz="1600" err="1"/>
              <a:t>Order</a:t>
            </a:r>
            <a:endParaRPr lang="pt-BR" sz="16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D706680-77DA-205D-DA1E-F91F580C4EAB}"/>
              </a:ext>
            </a:extLst>
          </p:cNvPr>
          <p:cNvSpPr txBox="1"/>
          <p:nvPr/>
        </p:nvSpPr>
        <p:spPr>
          <a:xfrm>
            <a:off x="6297090" y="5258988"/>
            <a:ext cx="501680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/>
              <a:t>Entity Item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67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FB09D-F02D-156B-5471-B6182FB6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897447-7847-9D7D-9AB2-DE5575DD8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D3F787-4DAD-5F97-A773-379EB467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23F34F-C4E1-31A5-9CFD-8C872C5F0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535215A-7724-38FD-9BE1-5E37C975E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8C5FC73-71EA-8FC0-F227-F8A44F598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D5E0D54-59F1-32DF-D7F2-7B2D9C3E3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9C5BB9-F4A9-D6D4-4A68-44056E569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4DBB0D1-5D01-1157-E088-C5B3EEB8B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24628BC-D0C4-C290-2C75-7C3921C89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DCAA12F-D2B2-7142-62CD-1D3927A3C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BBB6DB66-4E5F-5AF7-88D7-11D7DA95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02" y="383594"/>
            <a:ext cx="7958795" cy="2534811"/>
          </a:xfrm>
          <a:prstGeom prst="rect">
            <a:avLst/>
          </a:prstGeom>
        </p:spPr>
      </p:pic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47F26DFA-9979-5993-A9CA-6172B75DC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962" y="3201523"/>
            <a:ext cx="4524220" cy="334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5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7A9CB-0F9A-D34A-7485-AC4080B1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87D8EE-CD2D-CDE5-EAF6-1DFC52CB6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4B3BB2-3930-F71A-3839-AAD53CCA5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1F5841-B943-6299-D4E2-722638F64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3FAE539-29FA-120D-1B57-8592432F8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A44A1A-C775-E637-4CE4-6E051FE8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101F38-E5E0-BE25-0143-F6BBBD076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E9C5B62-45FE-5903-CD5C-03AE6B34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7ADC7B-95DF-607B-2A48-3CC82D186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E7CC6D9-13F4-E9D2-87A3-EE777CD57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FC7584-DE85-27CF-4543-26F5C760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6F167F33-5A5D-17B5-5C18-5334ADC12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2" y="933450"/>
            <a:ext cx="5934075" cy="49911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B2AF939-65CA-5C7A-5C14-89BA5D76CB9E}"/>
              </a:ext>
            </a:extLst>
          </p:cNvPr>
          <p:cNvSpPr txBox="1"/>
          <p:nvPr/>
        </p:nvSpPr>
        <p:spPr>
          <a:xfrm>
            <a:off x="3129206" y="5919857"/>
            <a:ext cx="593368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/>
              <a:t>Bean </a:t>
            </a:r>
            <a:r>
              <a:rPr lang="pt-BR" sz="1600" err="1"/>
              <a:t>to</a:t>
            </a:r>
            <a:r>
              <a:rPr lang="pt-BR" sz="1600" dirty="0"/>
              <a:t> </a:t>
            </a:r>
            <a:r>
              <a:rPr lang="pt-BR" sz="1600" err="1"/>
              <a:t>populate</a:t>
            </a:r>
            <a:r>
              <a:rPr lang="pt-BR" sz="1600" dirty="0"/>
              <a:t> 10 </a:t>
            </a:r>
            <a:r>
              <a:rPr lang="pt-BR" sz="1600" err="1"/>
              <a:t>orders</a:t>
            </a:r>
            <a:r>
              <a:rPr lang="pt-BR" sz="1600" dirty="0"/>
              <a:t> </a:t>
            </a:r>
            <a:r>
              <a:rPr lang="pt-BR" sz="1600" err="1"/>
              <a:t>and</a:t>
            </a:r>
            <a:r>
              <a:rPr lang="pt-BR" sz="1600" dirty="0"/>
              <a:t> 5 </a:t>
            </a:r>
            <a:r>
              <a:rPr lang="pt-BR" sz="1600" err="1"/>
              <a:t>Items</a:t>
            </a:r>
            <a:r>
              <a:rPr lang="pt-BR" sz="1600" dirty="0"/>
              <a:t> for </a:t>
            </a:r>
            <a:r>
              <a:rPr lang="pt-BR" sz="1600" err="1"/>
              <a:t>each</a:t>
            </a:r>
            <a:r>
              <a:rPr lang="pt-BR" sz="1600" dirty="0"/>
              <a:t> </a:t>
            </a:r>
            <a:r>
              <a:rPr lang="pt-BR" sz="1600" err="1"/>
              <a:t>order</a:t>
            </a:r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2390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F0A20-3F95-8178-53C4-BAEEBA83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3CC097-C8CA-18CF-ACD1-B4F3E30D0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252FCD-1D68-DB19-2BD6-50217AD9A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87F876-87B7-957C-EEDA-6FF238115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3A8CA9-56A7-B919-998F-17BA47DC6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2E3EC3-DE16-5CFA-B826-8DAA3AD5A0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5DB3447-6DCB-32CD-0B87-E0239AE0E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0FA2534-E333-A162-48C5-2B821D18A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7D7D09-4A34-25CA-3158-CAC5044EF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513DCE6-D5F0-E54C-4375-00843B7E5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198F13-D439-85D9-2AFB-623D794D7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D56CE9D-52A8-B75B-8886-882A75000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26" y="623964"/>
            <a:ext cx="6772275" cy="2809875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EABF6804-24A3-1866-0E49-40748A49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269" y="92927"/>
            <a:ext cx="2629120" cy="6436732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87BE7EB-4FDD-48CD-6C4C-2C123A094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926" y="4905143"/>
            <a:ext cx="3267075" cy="8763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0CAA140-1D96-D58F-4138-329BA7041DC5}"/>
              </a:ext>
            </a:extLst>
          </p:cNvPr>
          <p:cNvSpPr txBox="1"/>
          <p:nvPr/>
        </p:nvSpPr>
        <p:spPr>
          <a:xfrm>
            <a:off x="342907" y="3428915"/>
            <a:ext cx="6770028" cy="344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 err="1"/>
              <a:t>Controller</a:t>
            </a:r>
            <a:r>
              <a:rPr lang="pt-BR" sz="1600" dirty="0"/>
              <a:t> for normal query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2970013-5885-A3F8-8A84-2E44C7EF4B87}"/>
              </a:ext>
            </a:extLst>
          </p:cNvPr>
          <p:cNvSpPr txBox="1"/>
          <p:nvPr/>
        </p:nvSpPr>
        <p:spPr>
          <a:xfrm>
            <a:off x="2601783" y="5780049"/>
            <a:ext cx="326978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/>
              <a:t>SQL </a:t>
            </a:r>
            <a:r>
              <a:rPr lang="pt-BR" sz="1600" err="1"/>
              <a:t>Executions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3447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65C29-7BA9-A90E-98FA-BF794E1E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F93952-F466-A348-D0D5-B251E52A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46D0C1-35FA-255E-647C-474453BCF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3492A1-DDAD-8F02-4FD6-9B65585E5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F48870-7C55-B0F4-0466-33EF48876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E53DDE-E407-DD60-6888-BB837D292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241EA09-FDF9-3787-74E4-9279FDBC1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5C53E50-1F50-8AF1-E504-393E0CCC8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1431DA-6D9D-DF50-2846-05B1DAE69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5A3A2E-2C60-1D82-6EA1-F486760F0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7522E24-9DA7-DA6C-FB33-6A1CE31D6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EAD72523-2556-9302-B5E8-DF35FBF0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55" y="847454"/>
            <a:ext cx="6791325" cy="2771775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A784E82B-98B0-2756-5489-B474192DB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719" y="4976619"/>
            <a:ext cx="3248025" cy="85725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35E1730-1076-E155-0484-E20E4CF1F652}"/>
              </a:ext>
            </a:extLst>
          </p:cNvPr>
          <p:cNvSpPr txBox="1"/>
          <p:nvPr/>
        </p:nvSpPr>
        <p:spPr>
          <a:xfrm>
            <a:off x="776566" y="3614769"/>
            <a:ext cx="679480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err="1"/>
              <a:t>Controller</a:t>
            </a:r>
            <a:r>
              <a:rPr lang="pt-BR" sz="1600" dirty="0"/>
              <a:t> for Query </a:t>
            </a:r>
            <a:r>
              <a:rPr lang="pt-BR" sz="1600" err="1"/>
              <a:t>with</a:t>
            </a:r>
            <a:r>
              <a:rPr lang="pt-BR" sz="1600" dirty="0"/>
              <a:t> </a:t>
            </a:r>
            <a:r>
              <a:rPr lang="pt-BR" sz="1600" err="1"/>
              <a:t>Fetch</a:t>
            </a:r>
            <a:endParaRPr lang="pt-BR" sz="160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5803877-0FA0-C61F-9A5F-E30628B4D5B8}"/>
              </a:ext>
            </a:extLst>
          </p:cNvPr>
          <p:cNvSpPr txBox="1"/>
          <p:nvPr/>
        </p:nvSpPr>
        <p:spPr>
          <a:xfrm>
            <a:off x="8086140" y="6083275"/>
            <a:ext cx="376539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/>
              <a:t>SQL </a:t>
            </a:r>
            <a:r>
              <a:rPr lang="pt-BR" sz="1600" err="1"/>
              <a:t>generated</a:t>
            </a:r>
            <a:r>
              <a:rPr lang="pt-BR" sz="1600" dirty="0"/>
              <a:t> </a:t>
            </a:r>
            <a:r>
              <a:rPr lang="pt-BR" sz="1600" err="1"/>
              <a:t>by</a:t>
            </a:r>
            <a:r>
              <a:rPr lang="pt-BR" sz="1600" dirty="0"/>
              <a:t> </a:t>
            </a:r>
            <a:r>
              <a:rPr lang="pt-BR" sz="1600" err="1"/>
              <a:t>hibernate</a:t>
            </a:r>
            <a:endParaRPr lang="pt-BR" sz="160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CE2510-B92A-3782-2E03-522E259203D6}"/>
              </a:ext>
            </a:extLst>
          </p:cNvPr>
          <p:cNvSpPr txBox="1"/>
          <p:nvPr/>
        </p:nvSpPr>
        <p:spPr>
          <a:xfrm>
            <a:off x="2272940" y="5836977"/>
            <a:ext cx="324500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/>
              <a:t>SQL </a:t>
            </a:r>
            <a:r>
              <a:rPr lang="pt-BR" sz="1600" err="1"/>
              <a:t>executions</a:t>
            </a:r>
            <a:endParaRPr lang="pt-BR" sz="1600"/>
          </a:p>
        </p:txBody>
      </p:sp>
      <p:pic>
        <p:nvPicPr>
          <p:cNvPr id="20" name="Imagem 19" descr="Texto&#10;&#10;O conteúdo gerado por IA pode estar incorreto.">
            <a:extLst>
              <a:ext uri="{FF2B5EF4-FFF2-40B4-BE49-F238E27FC236}">
                <a16:creationId xmlns:a16="http://schemas.microsoft.com/office/drawing/2014/main" id="{A5F110D3-AAE6-357A-A98E-29159F5B2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923" y="458439"/>
            <a:ext cx="2644254" cy="562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3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82052-553C-8E2A-1E81-60468C0A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EBC956-4195-A861-D5C8-746FA04F1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ADED2-2C4A-C4D3-EF19-386A18AB0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800867-5484-53EA-4B69-F853D4779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7E1530-57E4-479A-7904-31E6E0278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80D061-EDF4-AA91-BF67-804CDDC30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7CC7D6A-D073-2813-FF55-A8BA414AB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9D52CBB-3962-A526-F713-A4B98ABE0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9AD772A-391E-37E5-2905-2685C8317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C7BE249-5280-F022-DAFE-589F9FF81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2A0453E-7CAE-BA17-FEDB-C62DFED9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C2C642C7-9CE7-C440-6C6B-48BA4672A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35" y="779813"/>
            <a:ext cx="9144000" cy="9891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Indiscriminated</a:t>
            </a:r>
            <a:r>
              <a:rPr lang="en-US" dirty="0"/>
              <a:t> </a:t>
            </a:r>
            <a:r>
              <a:rPr lang="en-US" dirty="0" err="1"/>
              <a:t>Cascade.ALL</a:t>
            </a:r>
            <a:r>
              <a:rPr lang="en-US" dirty="0"/>
              <a:t> Anti-Pattern 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33891B1C-C993-C4E2-A3FA-BAB01D652159}"/>
              </a:ext>
            </a:extLst>
          </p:cNvPr>
          <p:cNvSpPr txBox="1"/>
          <p:nvPr/>
        </p:nvSpPr>
        <p:spPr>
          <a:xfrm>
            <a:off x="442774" y="3117647"/>
            <a:ext cx="1073871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000" dirty="0"/>
              <a:t>Any operation performed on a Child entity defined as </a:t>
            </a:r>
            <a:r>
              <a:rPr lang="en-US" sz="2000" dirty="0" err="1"/>
              <a:t>CascadeType.ALL</a:t>
            </a:r>
            <a:r>
              <a:rPr lang="en-US" sz="2000" dirty="0"/>
              <a:t>, it will also reflect in the Parent entity.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3C90D0-E191-3480-832A-8388FD695F72}"/>
              </a:ext>
            </a:extLst>
          </p:cNvPr>
          <p:cNvSpPr txBox="1"/>
          <p:nvPr/>
        </p:nvSpPr>
        <p:spPr>
          <a:xfrm>
            <a:off x="439854" y="4184805"/>
            <a:ext cx="10630829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dirty="0"/>
              <a:t>This can lead to the accidental removal of the parent or the unintentional persistence of transient objects.</a:t>
            </a:r>
            <a:endParaRPr lang="pt-BR" sz="2000" dirty="0"/>
          </a:p>
          <a:p>
            <a:pPr algn="ctr"/>
            <a:endParaRPr lang="pt-BR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CD73D861-CA81-2B0B-7130-E25E3410135E}"/>
              </a:ext>
            </a:extLst>
          </p:cNvPr>
          <p:cNvSpPr txBox="1"/>
          <p:nvPr/>
        </p:nvSpPr>
        <p:spPr>
          <a:xfrm>
            <a:off x="442773" y="2324671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000" dirty="0" err="1"/>
              <a:t>Cascade.ALL</a:t>
            </a:r>
            <a:r>
              <a:rPr lang="en-US" sz="2000" dirty="0"/>
              <a:t> is used to disseminate persistence operations from one entity to another.</a:t>
            </a:r>
          </a:p>
        </p:txBody>
      </p:sp>
    </p:spTree>
    <p:extLst>
      <p:ext uri="{BB962C8B-B14F-4D97-AF65-F5344CB8AC3E}">
        <p14:creationId xmlns:p14="http://schemas.microsoft.com/office/powerpoint/2010/main" val="3104729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E7B82-5BBA-6724-319D-D045EA99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78DA17-92A8-1090-9BF7-1A37BB567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DE4B8-A387-AEEF-8DFB-816441B55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24BCCB-22E9-F3B0-5159-A0F471077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B260E1F-9818-00F5-0993-28BEC7FF4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0C887E8-99D5-8FF3-A7EC-8B58E8718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7CC313-FBD0-8CAA-2A84-9DED5D3C8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052B5FB-9E25-3510-048D-9F3C15D2F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29E9C7-0364-D11E-4A4A-0FE3997E1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C90F8AE-0005-84E1-EBED-DA746CB27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D4B071-83A8-30D2-B5AA-40F7D63D4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E262AF00-1457-C7C0-12C6-4F1E0BB9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531" y="1713338"/>
            <a:ext cx="4724400" cy="2762250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E6BAE243-590F-4B8A-23AA-ECF213E91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28" y="1715545"/>
            <a:ext cx="4686300" cy="220027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4C16B39-6E56-394C-EB93-E548F2997C21}"/>
              </a:ext>
            </a:extLst>
          </p:cNvPr>
          <p:cNvSpPr txBox="1"/>
          <p:nvPr/>
        </p:nvSpPr>
        <p:spPr>
          <a:xfrm>
            <a:off x="606786" y="3915986"/>
            <a:ext cx="46822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/>
              <a:t>Entity </a:t>
            </a:r>
            <a:r>
              <a:rPr lang="pt-BR" sz="1600" err="1"/>
              <a:t>User</a:t>
            </a:r>
            <a:endParaRPr lang="pt-BR" sz="1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8C7365C-8094-5039-4DBC-44A4F1044B38}"/>
              </a:ext>
            </a:extLst>
          </p:cNvPr>
          <p:cNvSpPr txBox="1"/>
          <p:nvPr/>
        </p:nvSpPr>
        <p:spPr>
          <a:xfrm>
            <a:off x="6359878" y="4467854"/>
            <a:ext cx="472563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dirty="0"/>
              <a:t>Entity Device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530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33940-01DB-37A2-8AA2-8C9DEF76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702A41-496C-A9D3-D9C6-04919C958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59882A-2DAC-D95F-2D45-9CDA6F291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3D9094-E7A2-83E4-E312-CEA4D5667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E34E50D-3B28-5E63-BA95-E33976A45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3B75B94-B07B-DED7-D225-1DE0262B4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73ACF25-AC94-86A2-0818-F3B486400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E4F15E8-1D26-2A0C-C687-1AABF9879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6C8C92A-286A-6A86-1827-67519A022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8A4D48-FD8A-E0C1-ECC6-815603338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96977A-BB17-84D6-0FEF-6BA99948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3DBFE931-F0A5-4935-856F-854119890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606" y="415073"/>
            <a:ext cx="4820987" cy="527824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48A679E-642D-280B-E135-E253D2112AEF}"/>
              </a:ext>
            </a:extLst>
          </p:cNvPr>
          <p:cNvSpPr txBox="1"/>
          <p:nvPr/>
        </p:nvSpPr>
        <p:spPr>
          <a:xfrm>
            <a:off x="3561023" y="5694823"/>
            <a:ext cx="48185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400" err="1"/>
              <a:t>UserService</a:t>
            </a:r>
            <a:r>
              <a:rPr lang="pt-BR" sz="1400" dirty="0"/>
              <a:t> </a:t>
            </a:r>
            <a:r>
              <a:rPr lang="pt-BR" sz="1400" err="1"/>
              <a:t>showing</a:t>
            </a:r>
            <a:r>
              <a:rPr lang="pt-BR" sz="1400" dirty="0"/>
              <a:t> </a:t>
            </a:r>
            <a:r>
              <a:rPr lang="pt-BR" sz="1400" err="1"/>
              <a:t>that</a:t>
            </a:r>
            <a:r>
              <a:rPr lang="pt-BR" sz="1400" dirty="0"/>
              <a:t> </a:t>
            </a:r>
            <a:r>
              <a:rPr lang="pt-BR" sz="1400" err="1"/>
              <a:t>only</a:t>
            </a:r>
            <a:r>
              <a:rPr lang="pt-BR" sz="1400" dirty="0"/>
              <a:t> </a:t>
            </a:r>
            <a:r>
              <a:rPr lang="pt-BR" sz="1400" err="1"/>
              <a:t>deviceRepository.save</a:t>
            </a:r>
            <a:r>
              <a:rPr lang="pt-BR" sz="1400" dirty="0"/>
              <a:t> </a:t>
            </a:r>
            <a:r>
              <a:rPr lang="pt-BR" sz="1400" err="1"/>
              <a:t>is</a:t>
            </a:r>
            <a:r>
              <a:rPr lang="pt-BR" sz="1400" dirty="0"/>
              <a:t> </a:t>
            </a:r>
            <a:r>
              <a:rPr lang="pt-BR" sz="1400" err="1"/>
              <a:t>called</a:t>
            </a:r>
            <a:endParaRPr lang="pt-BR" sz="1400"/>
          </a:p>
        </p:txBody>
      </p:sp>
    </p:spTree>
    <p:extLst>
      <p:ext uri="{BB962C8B-B14F-4D97-AF65-F5344CB8AC3E}">
        <p14:creationId xmlns:p14="http://schemas.microsoft.com/office/powerpoint/2010/main" val="342276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4562C-64BE-53A9-14D8-D63CDF23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BAFA00-C7E9-4831-0087-EAA2DB23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DB03C-0841-CAB7-7360-C956BBA96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885715-2C6A-3F64-15FD-E8D75DA7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5CAB8B0-6C8D-33F4-C94C-EF27A2D57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6EC894D-4C3A-F024-513B-7B82F4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DAEC9DB-75DF-5D2A-BB5C-E747F226A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2948605-A6E2-8CEC-8467-10FF18504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FA9077D-7481-C184-92DA-4EF001C7D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D33E08D-9C37-D64A-A4CE-8F898A66E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5549686-5909-5D9B-D57E-C2052ACD4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F5E7FCC-DCAD-8550-3B5E-8D710D1F6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40" y="758941"/>
            <a:ext cx="4119136" cy="4602898"/>
          </a:xfrm>
          <a:prstGeom prst="rect">
            <a:avLst/>
          </a:prstGeom>
        </p:spPr>
      </p:pic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22547BD4-B0F4-380D-EC6C-A514B3A81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267" y="1151905"/>
            <a:ext cx="3305175" cy="40957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2054354-9B26-2174-A139-A0D04AF266CA}"/>
              </a:ext>
            </a:extLst>
          </p:cNvPr>
          <p:cNvSpPr txBox="1"/>
          <p:nvPr/>
        </p:nvSpPr>
        <p:spPr>
          <a:xfrm>
            <a:off x="1678877" y="5353422"/>
            <a:ext cx="367246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err="1"/>
              <a:t>Endpoint</a:t>
            </a:r>
            <a:r>
              <a:rPr lang="pt-BR" sz="1600" dirty="0"/>
              <a:t> </a:t>
            </a:r>
            <a:r>
              <a:rPr lang="pt-BR" sz="1600" err="1"/>
              <a:t>to</a:t>
            </a:r>
            <a:r>
              <a:rPr lang="pt-BR" sz="1600" dirty="0"/>
              <a:t> </a:t>
            </a:r>
            <a:r>
              <a:rPr lang="pt-BR" sz="1600" err="1"/>
              <a:t>Insert</a:t>
            </a:r>
            <a:r>
              <a:rPr lang="pt-BR" sz="1600" dirty="0"/>
              <a:t> </a:t>
            </a:r>
            <a:r>
              <a:rPr lang="pt-BR" sz="1600" err="1"/>
              <a:t>User</a:t>
            </a:r>
            <a:r>
              <a:rPr lang="pt-BR" sz="1600" dirty="0"/>
              <a:t> </a:t>
            </a:r>
            <a:r>
              <a:rPr lang="pt-BR" sz="1600" err="1"/>
              <a:t>and</a:t>
            </a:r>
            <a:r>
              <a:rPr lang="pt-BR" sz="1600" dirty="0"/>
              <a:t> Device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E884CE3-9F2D-6379-E941-6267DBEF2511}"/>
              </a:ext>
            </a:extLst>
          </p:cNvPr>
          <p:cNvSpPr txBox="1"/>
          <p:nvPr/>
        </p:nvSpPr>
        <p:spPr>
          <a:xfrm>
            <a:off x="7407189" y="5244756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/>
              <a:t>Query </a:t>
            </a:r>
            <a:r>
              <a:rPr lang="pt-BR" sz="1600" err="1"/>
              <a:t>executed</a:t>
            </a:r>
            <a:r>
              <a:rPr lang="pt-BR" sz="1600" dirty="0"/>
              <a:t> </a:t>
            </a:r>
            <a:r>
              <a:rPr lang="pt-BR" sz="1600" err="1"/>
              <a:t>by</a:t>
            </a:r>
            <a:r>
              <a:rPr lang="pt-BR" sz="1600" dirty="0"/>
              <a:t> </a:t>
            </a:r>
            <a:r>
              <a:rPr lang="pt-BR" sz="1600" err="1"/>
              <a:t>hibernate</a:t>
            </a:r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316046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DF987-7E3C-8B34-E9F3-99E78E8EC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159D76-811F-5F2A-6E07-3FCAF94A8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6D9264-3E5C-4EEC-5986-CD0F68E6B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02913D-14BA-270F-A262-14AB3C60C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D33CDB7-F06A-BCE6-EBB0-E4515B880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7C692C-D700-5CD3-B37B-5BEB3127E6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D216954-A55F-8D14-A7D7-3125529B5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1204BAF-8DA1-8480-1D9B-6A1DC45E9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3FD903-0C97-1908-8C1B-7D111DAA0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D9E4135-08FD-58B8-C388-27CFAE5D2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0D7774B-4DAE-B744-D9F1-3D40773D7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" name="Imagem 1" descr="Tela de celular&#10;&#10;O conteúdo gerado por IA pode estar incorreto.">
            <a:extLst>
              <a:ext uri="{FF2B5EF4-FFF2-40B4-BE49-F238E27FC236}">
                <a16:creationId xmlns:a16="http://schemas.microsoft.com/office/drawing/2014/main" id="{041D2678-198D-2732-97F8-856D9DBC9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96" y="503354"/>
            <a:ext cx="5695950" cy="4191000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2A246986-AB87-63EE-7753-CF89E35C0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744" y="223334"/>
            <a:ext cx="3751147" cy="563074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E927D5B-914F-0FBC-1F95-62F45CCCFD04}"/>
              </a:ext>
            </a:extLst>
          </p:cNvPr>
          <p:cNvSpPr txBox="1"/>
          <p:nvPr/>
        </p:nvSpPr>
        <p:spPr>
          <a:xfrm>
            <a:off x="1304658" y="4699585"/>
            <a:ext cx="57044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 err="1"/>
              <a:t>Endpoint</a:t>
            </a:r>
            <a:r>
              <a:rPr lang="pt-BR" dirty="0"/>
              <a:t> </a:t>
            </a:r>
            <a:r>
              <a:rPr lang="pt-BR" dirty="0" err="1"/>
              <a:t>call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remove </a:t>
            </a:r>
            <a:r>
              <a:rPr lang="pt-BR" dirty="0" err="1"/>
              <a:t>the</a:t>
            </a:r>
            <a:r>
              <a:rPr lang="pt-BR" dirty="0"/>
              <a:t> Device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67EE26-5BFD-A5EB-3A0A-96187E92AA27}"/>
              </a:ext>
            </a:extLst>
          </p:cNvPr>
          <p:cNvSpPr txBox="1"/>
          <p:nvPr/>
        </p:nvSpPr>
        <p:spPr>
          <a:xfrm>
            <a:off x="8161821" y="585807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It </a:t>
            </a:r>
            <a:r>
              <a:rPr lang="pt-BR" dirty="0" err="1"/>
              <a:t>also</a:t>
            </a:r>
            <a:r>
              <a:rPr lang="pt-BR" dirty="0"/>
              <a:t> remove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378178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DEB32-BEEE-DFA9-4190-D34566E6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7C2EA4-A282-CE1D-588C-62AC7ED75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6B5761-C9EE-F8BD-04FB-BB551C184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4661D6-2230-28C4-963D-33C72782C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5758CFC-5B6D-F6C3-8A4C-5D6FC78C3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6188F36-CA30-8F33-AE87-5542DFBA3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8CE067-F806-CD4E-6740-4FB4E63B9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90F06C-C201-36DF-580B-4ACE88D34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FF9F0E5-682D-0680-2A09-665A76B7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DA804F-069F-4A7F-CC90-4CB727A26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FDC322D-B5D5-6E97-6BEF-C0699D4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00E426D-48A7-A0DD-21BB-0FB99BD7C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132" y="292720"/>
            <a:ext cx="9382125" cy="1143000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51CE22A8-3140-17DD-6766-07FF832DC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859" y="2415247"/>
            <a:ext cx="5359013" cy="387365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0E4F64-0DA6-3AFC-458A-A7201241CA9D}"/>
              </a:ext>
            </a:extLst>
          </p:cNvPr>
          <p:cNvSpPr txBox="1"/>
          <p:nvPr/>
        </p:nvSpPr>
        <p:spPr>
          <a:xfrm>
            <a:off x="4492301" y="1437100"/>
            <a:ext cx="4199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Remove </a:t>
            </a:r>
            <a:r>
              <a:rPr lang="pt-BR" dirty="0" err="1"/>
              <a:t>CascadeType.ALL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5989B91-1D79-EFA9-44BA-F73AAA93CFC8}"/>
              </a:ext>
            </a:extLst>
          </p:cNvPr>
          <p:cNvSpPr txBox="1"/>
          <p:nvPr/>
        </p:nvSpPr>
        <p:spPr>
          <a:xfrm>
            <a:off x="4644165" y="6287881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 err="1"/>
              <a:t>Persist</a:t>
            </a:r>
            <a:r>
              <a:rPr lang="pt-BR" dirty="0"/>
              <a:t>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Device</a:t>
            </a:r>
          </a:p>
        </p:txBody>
      </p:sp>
    </p:spTree>
    <p:extLst>
      <p:ext uri="{BB962C8B-B14F-4D97-AF65-F5344CB8AC3E}">
        <p14:creationId xmlns:p14="http://schemas.microsoft.com/office/powerpoint/2010/main" val="3827533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90CB6-B086-1765-A2E0-A3358FD6B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697AAC-DB4F-98C2-04D2-579624E95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5D475-176B-403B-F42E-8F721911E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DBC18F-BFD0-4569-DBDE-33CAE4449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DA9020-9193-A7B6-E99A-1CE8E99C8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884B75-0421-8C2B-B19B-B4B1F14EB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A49FBB-EA80-AA71-7E7C-8F344BC9D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129AACF-26E4-147B-C987-553883F7C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F75A391-76B8-23D3-4411-9E744DD274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E2C1A70-5B3B-9F7F-F6D7-451175B9F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276A9D-E836-DF63-2614-85D1151B0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A377585A-4D11-F453-68A1-2444C1031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79" y="885515"/>
            <a:ext cx="3981450" cy="4095750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C50E5E7C-19FD-473C-1573-6977B2101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468" y="888535"/>
            <a:ext cx="3876675" cy="46101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51EE0D-6719-4097-6AA6-D06301318ACE}"/>
              </a:ext>
            </a:extLst>
          </p:cNvPr>
          <p:cNvSpPr txBox="1"/>
          <p:nvPr/>
        </p:nvSpPr>
        <p:spPr>
          <a:xfrm>
            <a:off x="1557152" y="4979706"/>
            <a:ext cx="398222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err="1"/>
              <a:t>Insert</a:t>
            </a:r>
            <a:r>
              <a:rPr lang="pt-BR" sz="1600" dirty="0"/>
              <a:t> </a:t>
            </a:r>
            <a:r>
              <a:rPr lang="pt-BR" sz="1600" err="1"/>
              <a:t>on</a:t>
            </a:r>
            <a:r>
              <a:rPr lang="pt-BR" sz="1600" dirty="0"/>
              <a:t> </a:t>
            </a:r>
            <a:r>
              <a:rPr lang="pt-BR" sz="1600" err="1"/>
              <a:t>User</a:t>
            </a:r>
            <a:r>
              <a:rPr lang="pt-BR" sz="1600" dirty="0"/>
              <a:t> </a:t>
            </a:r>
            <a:r>
              <a:rPr lang="pt-BR" sz="1600" err="1"/>
              <a:t>and</a:t>
            </a:r>
            <a:r>
              <a:rPr lang="pt-BR" sz="1600" dirty="0"/>
              <a:t> Device</a:t>
            </a:r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0411C32-FA35-FEF3-36BD-D60F4DBB7DDE}"/>
              </a:ext>
            </a:extLst>
          </p:cNvPr>
          <p:cNvSpPr txBox="1"/>
          <p:nvPr/>
        </p:nvSpPr>
        <p:spPr>
          <a:xfrm>
            <a:off x="7201578" y="5506124"/>
            <a:ext cx="38769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/>
              <a:t>It </a:t>
            </a:r>
            <a:r>
              <a:rPr lang="pt-BR" err="1"/>
              <a:t>will</a:t>
            </a:r>
            <a:r>
              <a:rPr lang="pt-BR" dirty="0"/>
              <a:t> </a:t>
            </a:r>
            <a:r>
              <a:rPr lang="pt-BR" err="1"/>
              <a:t>only</a:t>
            </a:r>
            <a:r>
              <a:rPr lang="pt-BR" dirty="0"/>
              <a:t> remove Device </a:t>
            </a:r>
            <a:r>
              <a:rPr lang="pt-BR" err="1"/>
              <a:t>entity</a:t>
            </a:r>
            <a:r>
              <a:rPr lang="pt-BR" dirty="0"/>
              <a:t> </a:t>
            </a:r>
            <a:r>
              <a:rPr lang="pt-BR" err="1"/>
              <a:t>when</a:t>
            </a:r>
            <a:r>
              <a:rPr lang="pt-BR" dirty="0"/>
              <a:t> </a:t>
            </a:r>
            <a:r>
              <a:rPr lang="pt-BR" err="1"/>
              <a:t>call</a:t>
            </a:r>
            <a:r>
              <a:rPr lang="pt-BR" dirty="0"/>
              <a:t> </a:t>
            </a:r>
            <a:r>
              <a:rPr lang="pt-BR" err="1"/>
              <a:t>the</a:t>
            </a:r>
            <a:r>
              <a:rPr lang="pt-BR" dirty="0"/>
              <a:t> </a:t>
            </a:r>
            <a:r>
              <a:rPr lang="pt-BR" err="1"/>
              <a:t>service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524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31B44-F7BA-AC30-5969-C9115B2E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68BE59-2D76-D372-7256-DAB4CC0E7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C2B03D-C7C4-E0FF-147B-337000811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2CCA71-AC45-D16A-5B6E-6587A037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2F04CE3-85C7-187D-DE05-BA793B56F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AC3FF7-907C-8B8B-6E7E-B2AB7BD28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4DB62A9-6603-EE20-37BB-8CBEA802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27F74EA-9C5A-0D09-AFE8-E9F6F271F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CAF8B59-010D-B555-C1D0-1AEAA5550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FCE954-7DEA-2C36-2C25-DD3513A03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C83828-F24A-BA80-D6A0-E14D59869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94A1B9FB-69D5-E506-3791-13DEF650E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861" y="878935"/>
            <a:ext cx="9144000" cy="9891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Indiscriminated</a:t>
            </a:r>
            <a:r>
              <a:rPr lang="en-US" dirty="0"/>
              <a:t> </a:t>
            </a:r>
            <a:r>
              <a:rPr lang="en-US" dirty="0" err="1"/>
              <a:t>Cascade.ALL</a:t>
            </a:r>
            <a:r>
              <a:rPr lang="en-US" dirty="0"/>
              <a:t> Anti-Pattern 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B4E2F75-2E4C-E151-AFBC-A8BE5720A6B3}"/>
              </a:ext>
            </a:extLst>
          </p:cNvPr>
          <p:cNvSpPr txBox="1"/>
          <p:nvPr/>
        </p:nvSpPr>
        <p:spPr>
          <a:xfrm>
            <a:off x="1452578" y="268398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"Don't let the children control the parents, this can lead to unwanted problems."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5EA078D-FDCE-1FB2-B242-9E881882CDB6}"/>
              </a:ext>
            </a:extLst>
          </p:cNvPr>
          <p:cNvSpPr txBox="1"/>
          <p:nvPr/>
        </p:nvSpPr>
        <p:spPr>
          <a:xfrm>
            <a:off x="9064635" y="3088352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 err="1"/>
              <a:t>Fucks</a:t>
            </a:r>
            <a:r>
              <a:rPr lang="pt-BR" sz="1400" dirty="0"/>
              <a:t>, Fábio</a:t>
            </a:r>
          </a:p>
        </p:txBody>
      </p:sp>
    </p:spTree>
    <p:extLst>
      <p:ext uri="{BB962C8B-B14F-4D97-AF65-F5344CB8AC3E}">
        <p14:creationId xmlns:p14="http://schemas.microsoft.com/office/powerpoint/2010/main" val="1877815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8F2DC-DFCD-D5C7-61A5-33425AF0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B09089-C488-A7AE-3159-5602D3334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897553-1EE5-8450-FF51-0D76577D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235579-BA61-53C5-BCF2-A936001A7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72D3F90-FC27-CCE1-D7D6-DCD0CEA43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56C8A8E-F724-5D9F-CB64-EE2F88329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106E7B8-2775-DAFB-4D63-9B29063A4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5D40C6-E833-F97C-D99A-8E2E871AE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B7FC3A5-2957-0DFC-FCF0-466F0643D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6EC65C-A7A1-2E52-2F28-C54B77883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3766BF-739A-E04B-6237-8FEAC498E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A9E4269-DB0B-4E48-A819-372C65565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941" y="642159"/>
            <a:ext cx="4535714" cy="453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1D9409-DC95-602E-68A7-A78D1802F028}"/>
              </a:ext>
            </a:extLst>
          </p:cNvPr>
          <p:cNvSpPr txBox="1"/>
          <p:nvPr/>
        </p:nvSpPr>
        <p:spPr>
          <a:xfrm>
            <a:off x="4235279" y="5463938"/>
            <a:ext cx="609805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/>
              <a:t>https://github.com/FFucks/hibernate</a:t>
            </a:r>
          </a:p>
        </p:txBody>
      </p:sp>
    </p:spTree>
    <p:extLst>
      <p:ext uri="{BB962C8B-B14F-4D97-AF65-F5344CB8AC3E}">
        <p14:creationId xmlns:p14="http://schemas.microsoft.com/office/powerpoint/2010/main" val="177973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5601</TotalTime>
  <Words>154</Words>
  <Application>Microsoft Office PowerPoint</Application>
  <PresentationFormat>Widescreen</PresentationFormat>
  <Paragraphs>21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Office Theme</vt:lpstr>
      <vt:lpstr>Fábio Geiss Fucks</vt:lpstr>
      <vt:lpstr>N +1 Anti-Pattern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Indiscriminated Cascade.ALL Anti-Pattern 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Indiscriminated Cascade.ALL Anti-Pattern 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Fucks</dc:creator>
  <cp:lastModifiedBy>Fabio Fucks</cp:lastModifiedBy>
  <cp:revision>370</cp:revision>
  <dcterms:created xsi:type="dcterms:W3CDTF">2025-09-08T01:00:03Z</dcterms:created>
  <dcterms:modified xsi:type="dcterms:W3CDTF">2025-12-11T18:59:48Z</dcterms:modified>
</cp:coreProperties>
</file>